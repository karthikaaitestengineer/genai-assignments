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00D2FF"/>
                </a:solidFill>
                <a:latin typeface="Segoe UI"/>
              </a:defRPr>
            </a:pPr>
            <a:r>
              <a:t>LangChain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0">
                <a:solidFill>
                  <a:srgbClr val="FFFFFF"/>
                </a:solidFill>
                <a:latin typeface="Segoe UI"/>
              </a:defRPr>
            </a:pPr>
            <a:r>
              <a:t>Framework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CCCCCC"/>
                </a:solidFill>
                <a:latin typeface="Segoe UI"/>
              </a:defRPr>
            </a:pPr>
            <a:r>
              <a:t>Langchain is a framework which can be used to do a chain of actions.</a:t>
            </a:r>
            <a:br/>
            <a:r>
              <a:t>It is supported by Python and TypeScript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CCCCC"/>
                </a:solidFill>
                <a:latin typeface="Segoe UI"/>
              </a:defRPr>
            </a:pPr>
            <a:r>
              <a:t>It can be accessed through langchain dependencies.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2286000" cy="365760"/>
          </a:xfrm>
          <a:prstGeom prst="round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CORE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D2FF"/>
                </a:solidFill>
                <a:latin typeface="Segoe UI"/>
              </a:defRPr>
            </a:pPr>
            <a:r>
              <a:t>Core Components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3200400" cy="146304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286000"/>
            <a:ext cx="3200400" cy="146304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Messages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286000"/>
            <a:ext cx="3200400" cy="146304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Tools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97680"/>
            <a:ext cx="3200400" cy="146304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Short Term Memory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297680"/>
            <a:ext cx="3200400" cy="146304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Event Streaming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4297680"/>
            <a:ext cx="3200400" cy="1463040"/>
          </a:xfrm>
          <a:prstGeom prst="roundRect">
            <a:avLst/>
          </a:prstGeom>
          <a:solidFill>
            <a:srgbClr val="2727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Structured Output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2286000" cy="365760"/>
          </a:xfrm>
          <a:prstGeom prst="round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CORE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D2FF"/>
                </a:solidFill>
                <a:latin typeface="Segoe UI"/>
              </a:defRPr>
            </a:pPr>
            <a:r>
              <a:t>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>
                <a:solidFill>
                  <a:srgbClr val="00D2FF"/>
                </a:solidFill>
                <a:latin typeface="Segoe UI"/>
              </a:rPr>
              <a:t>1) </a:t>
            </a:r>
            <a:r>
              <a:rPr sz="1700">
                <a:solidFill>
                  <a:srgbClr val="CCCCCC"/>
                </a:solidFill>
                <a:latin typeface="Segoe UI"/>
              </a:rPr>
              <a:t>For accessing supported service provider models we need access through dependency.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00D2FF"/>
                </a:solidFill>
                <a:latin typeface="Segoe UI"/>
              </a:rPr>
              <a:t>2) </a:t>
            </a:r>
            <a:r>
              <a:rPr sz="1700">
                <a:solidFill>
                  <a:srgbClr val="CCCCCC"/>
                </a:solidFill>
                <a:latin typeface="Segoe UI"/>
              </a:rPr>
              <a:t>It can be accessed directly as a standalone / Can be used while agent creation or can be configured during run time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00D2FF"/>
                </a:solidFill>
                <a:latin typeface="Segoe UI"/>
              </a:rPr>
              <a:t>3) </a:t>
            </a:r>
            <a:r>
              <a:rPr sz="1700">
                <a:solidFill>
                  <a:srgbClr val="CCCCCC"/>
                </a:solidFill>
                <a:latin typeface="Segoe UI"/>
              </a:rPr>
              <a:t>We can send the parameters while invoking the models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00D2FF"/>
                </a:solidFill>
                <a:latin typeface="Segoe UI"/>
              </a:rPr>
              <a:t>4) </a:t>
            </a:r>
            <a:r>
              <a:rPr sz="1700">
                <a:solidFill>
                  <a:srgbClr val="CCCCCC"/>
                </a:solidFill>
                <a:latin typeface="Segoe UI"/>
              </a:rPr>
              <a:t>Output of the model can be streamed, perform reasoning and also we can get a structured output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00D2FF"/>
                </a:solidFill>
                <a:latin typeface="Segoe UI"/>
              </a:rPr>
              <a:t>5) </a:t>
            </a:r>
            <a:r>
              <a:rPr sz="1700">
                <a:solidFill>
                  <a:srgbClr val="CCCCCC"/>
                </a:solidFill>
                <a:latin typeface="Segoe UI"/>
              </a:rPr>
              <a:t>Ratelimit can be set and token usage can be received using metadata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00D2FF"/>
                </a:solidFill>
                <a:latin typeface="Segoe UI"/>
              </a:rPr>
              <a:t>6) </a:t>
            </a:r>
            <a:r>
              <a:rPr sz="1700">
                <a:solidFill>
                  <a:srgbClr val="CCCCCC"/>
                </a:solidFill>
                <a:latin typeface="Segoe UI"/>
              </a:rPr>
              <a:t>Batch processing is possible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2286000" cy="365760"/>
          </a:xfrm>
          <a:prstGeom prst="round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CORE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D2FF"/>
                </a:solidFill>
                <a:latin typeface="Segoe UI"/>
              </a:defRPr>
            </a:pPr>
            <a:r>
              <a:t>Models (continued)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00D2FF"/>
                </a:solidFill>
                <a:latin typeface="Segoe UI"/>
              </a:rPr>
              <a:t>7) </a:t>
            </a:r>
            <a:r>
              <a:rPr sz="1700">
                <a:solidFill>
                  <a:srgbClr val="CCCCCC"/>
                </a:solidFill>
                <a:latin typeface="Segoe UI"/>
              </a:rPr>
              <a:t>Additional tools can be integrated using bind_tools option (e.g Fetching data from DB, runtime code etc)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0D2FF"/>
                </a:solidFill>
                <a:latin typeface="Segoe UI"/>
              </a:rPr>
              <a:t>8) </a:t>
            </a:r>
            <a:r>
              <a:rPr sz="1700">
                <a:solidFill>
                  <a:srgbClr val="CCCCCC"/>
                </a:solidFill>
                <a:latin typeface="Segoe UI"/>
              </a:rPr>
              <a:t>Multimodal is supported for different type of inputs/outputs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0D2FF"/>
                </a:solidFill>
                <a:latin typeface="Segoe UI"/>
              </a:rPr>
              <a:t>9) </a:t>
            </a:r>
            <a:r>
              <a:rPr sz="1700">
                <a:solidFill>
                  <a:srgbClr val="CCCCCC"/>
                </a:solidFill>
                <a:latin typeface="Segoe UI"/>
              </a:rPr>
              <a:t>Local models are supported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0D2FF"/>
                </a:solidFill>
                <a:latin typeface="Segoe UI"/>
              </a:rPr>
              <a:t>10) </a:t>
            </a:r>
            <a:r>
              <a:rPr sz="1700">
                <a:solidFill>
                  <a:srgbClr val="CCCCCC"/>
                </a:solidFill>
                <a:latin typeface="Segoe UI"/>
              </a:rPr>
              <a:t>Prompt caching is achievable using service providers/Langchain middleware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0D2FF"/>
                </a:solidFill>
                <a:latin typeface="Segoe UI"/>
              </a:rPr>
              <a:t>11) </a:t>
            </a:r>
            <a:r>
              <a:rPr sz="1700">
                <a:solidFill>
                  <a:srgbClr val="CCCCCC"/>
                </a:solidFill>
                <a:latin typeface="Segoe UI"/>
              </a:rPr>
              <a:t>Custom BaseURL can be set to access the models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0D2FF"/>
                </a:solidFill>
                <a:latin typeface="Segoe UI"/>
              </a:rPr>
              <a:t>12) </a:t>
            </a:r>
            <a:r>
              <a:rPr sz="1700">
                <a:solidFill>
                  <a:srgbClr val="CCCCCC"/>
                </a:solidFill>
                <a:latin typeface="Segoe UI"/>
              </a:rPr>
              <a:t>Dynamic model selection during run time for better cost optimization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2286000" cy="365760"/>
          </a:xfrm>
          <a:prstGeom prst="round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CORE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D2FF"/>
                </a:solidFill>
                <a:latin typeface="Segoe UI"/>
              </a:defRPr>
            </a:pPr>
            <a:r>
              <a:t>Messages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>
                <a:solidFill>
                  <a:srgbClr val="00D2FF"/>
                </a:solidFill>
                <a:latin typeface="Segoe UI"/>
              </a:rPr>
              <a:t>1) </a:t>
            </a:r>
            <a:r>
              <a:rPr sz="1700">
                <a:solidFill>
                  <a:srgbClr val="CCCCCC"/>
                </a:solidFill>
                <a:latin typeface="Segoe UI"/>
              </a:rPr>
              <a:t>It represents both input and output of the model with objects such as role, content, metadata[O/p]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00D2FF"/>
                </a:solidFill>
                <a:latin typeface="Segoe UI"/>
              </a:rPr>
              <a:t>2) </a:t>
            </a:r>
            <a:r>
              <a:rPr sz="1700">
                <a:solidFill>
                  <a:srgbClr val="CCCCCC"/>
                </a:solidFill>
                <a:latin typeface="Segoe UI"/>
              </a:rPr>
              <a:t>Creating message objects is the simple way to use it and we can call it during invoke of the model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00D2FF"/>
                </a:solidFill>
                <a:latin typeface="Segoe UI"/>
              </a:rPr>
              <a:t>3) </a:t>
            </a:r>
            <a:r>
              <a:rPr sz="1700">
                <a:solidFill>
                  <a:srgbClr val="CCCCCC"/>
                </a:solidFill>
                <a:latin typeface="Segoe UI"/>
              </a:rPr>
              <a:t>AI message will be the o/p message of the model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00D2FF"/>
                </a:solidFill>
                <a:latin typeface="Segoe UI"/>
              </a:rPr>
              <a:t>4) </a:t>
            </a:r>
            <a:r>
              <a:rPr sz="1700">
                <a:solidFill>
                  <a:srgbClr val="CCCCCC"/>
                </a:solidFill>
                <a:latin typeface="Segoe UI"/>
              </a:rPr>
              <a:t>Input message can be a text, message or key,value pair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00D2FF"/>
                </a:solidFill>
                <a:latin typeface="Segoe UI"/>
              </a:rPr>
              <a:t>5) </a:t>
            </a:r>
            <a:r>
              <a:rPr sz="1700">
                <a:solidFill>
                  <a:srgbClr val="CCCCCC"/>
                </a:solidFill>
                <a:latin typeface="Segoe UI"/>
              </a:rPr>
              <a:t>AI message can be streamed with chunks, tools can be called for the o/p and token usage can be retrieved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00D2FF"/>
                </a:solidFill>
                <a:latin typeface="Segoe UI"/>
              </a:rPr>
              <a:t>6) </a:t>
            </a:r>
            <a:r>
              <a:rPr sz="1700">
                <a:solidFill>
                  <a:srgbClr val="CCCCCC"/>
                </a:solidFill>
                <a:latin typeface="Segoe UI"/>
              </a:rPr>
              <a:t>It has "content" attribute where we can pass different input types to langchain chat 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846320"/>
            <a:ext cx="731520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>
                <a:solidFill>
                  <a:srgbClr val="00FF88"/>
                </a:solidFill>
                <a:latin typeface="Consolas"/>
              </a:defRPr>
            </a:pPr>
            <a:r>
              <a:t>system_msg = SystemMessage("You are a chatbot assistant.")</a:t>
            </a:r>
            <a:br/>
            <a:r>
              <a:t>human_msg = HumanMessage("Hello, how are you?")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FF"/>
                </a:solidFill>
                <a:latin typeface="Segoe UI"/>
              </a:defRPr>
            </a:pPr>
            <a:r>
              <a:t>Example: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2286000" cy="365760"/>
          </a:xfrm>
          <a:prstGeom prst="round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CORE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D2FF"/>
                </a:solidFill>
                <a:latin typeface="Segoe UI"/>
              </a:defRPr>
            </a:pPr>
            <a:r>
              <a:t>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>
                <a:solidFill>
                  <a:srgbClr val="00D2FF"/>
                </a:solidFill>
                <a:latin typeface="Segoe UI"/>
              </a:rPr>
              <a:t>1) </a:t>
            </a:r>
            <a:r>
              <a:rPr sz="1700">
                <a:solidFill>
                  <a:srgbClr val="CCCCCC"/>
                </a:solidFill>
                <a:latin typeface="Segoe UI"/>
              </a:rPr>
              <a:t>Tools can be used to fetch run time/realtime data or a function with proper input and output and the model decides when to use that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00D2FF"/>
                </a:solidFill>
                <a:latin typeface="Segoe UI"/>
              </a:rPr>
              <a:t>2) </a:t>
            </a:r>
            <a:r>
              <a:rPr sz="1700">
                <a:solidFill>
                  <a:srgbClr val="CCCCCC"/>
                </a:solidFill>
                <a:latin typeface="Segoe UI"/>
              </a:rPr>
              <a:t>@tool is the decorator to identify the tool functions by model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00D2FF"/>
                </a:solidFill>
                <a:latin typeface="Segoe UI"/>
              </a:rPr>
              <a:t>3) </a:t>
            </a:r>
            <a:r>
              <a:rPr sz="1700">
                <a:solidFill>
                  <a:srgbClr val="CCCCCC"/>
                </a:solidFill>
                <a:latin typeface="Segoe UI"/>
              </a:rPr>
              <a:t>Name, description of the tools can be customized except the reserved arguments such as config and complex inputs can also be used for tools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00D2FF"/>
                </a:solidFill>
                <a:latin typeface="Segoe UI"/>
              </a:rPr>
              <a:t>4) </a:t>
            </a:r>
            <a:r>
              <a:rPr sz="1700">
                <a:solidFill>
                  <a:srgbClr val="CCCCCC"/>
                </a:solidFill>
                <a:latin typeface="Segoe UI"/>
              </a:rPr>
              <a:t>It is more powerful since we can get runtime information, historical data, memory etc.. through ToolRuntime parameter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2286000" cy="365760"/>
          </a:xfrm>
          <a:prstGeom prst="round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CORE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2FF"/>
                </a:solidFill>
                <a:latin typeface="Segoe UI"/>
              </a:defRPr>
            </a:pPr>
            <a:r>
              <a:t>Tools — ToolRuntime Parameters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7B2FFF"/>
                </a:solidFill>
                <a:latin typeface="Segoe UI"/>
              </a:rPr>
              <a:t>  1) </a:t>
            </a:r>
            <a:r>
              <a:rPr sz="1800">
                <a:solidFill>
                  <a:srgbClr val="CCCCCC"/>
                </a:solidFill>
                <a:latin typeface="Segoe UI"/>
              </a:rPr>
              <a:t>State - Short term memory which can be accessed and updated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7B2FFF"/>
                </a:solidFill>
                <a:latin typeface="Segoe UI"/>
              </a:rPr>
              <a:t>  2) </a:t>
            </a:r>
            <a:r>
              <a:rPr sz="1800">
                <a:solidFill>
                  <a:srgbClr val="CCCCCC"/>
                </a:solidFill>
                <a:latin typeface="Segoe UI"/>
              </a:rPr>
              <a:t>Context - To pass user ids, session details etc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7B2FFF"/>
                </a:solidFill>
                <a:latin typeface="Segoe UI"/>
              </a:rPr>
              <a:t>  3) </a:t>
            </a:r>
            <a:r>
              <a:rPr sz="1800">
                <a:solidFill>
                  <a:srgbClr val="CCCCCC"/>
                </a:solidFill>
                <a:latin typeface="Segoe UI"/>
              </a:rPr>
              <a:t>Store - Long term memory which can be saved and available for future sessions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7B2FFF"/>
                </a:solidFill>
                <a:latin typeface="Segoe UI"/>
              </a:rPr>
              <a:t>  4) </a:t>
            </a:r>
            <a:r>
              <a:rPr sz="1800">
                <a:solidFill>
                  <a:srgbClr val="CCCCCC"/>
                </a:solidFill>
                <a:latin typeface="Segoe UI"/>
              </a:rPr>
              <a:t>Stream-Writer - For Real time update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7B2FFF"/>
                </a:solidFill>
                <a:latin typeface="Segoe UI"/>
              </a:rPr>
              <a:t>  5) </a:t>
            </a:r>
            <a:r>
              <a:rPr sz="1800">
                <a:solidFill>
                  <a:srgbClr val="CCCCCC"/>
                </a:solidFill>
                <a:latin typeface="Segoe UI"/>
              </a:rPr>
              <a:t>Execution info - thread id, run id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7B2FFF"/>
                </a:solidFill>
                <a:latin typeface="Segoe UI"/>
              </a:rPr>
              <a:t>  6) </a:t>
            </a:r>
            <a:r>
              <a:rPr sz="1800">
                <a:solidFill>
                  <a:srgbClr val="CCCCCC"/>
                </a:solidFill>
                <a:latin typeface="Segoe UI"/>
              </a:rPr>
              <a:t>Server info - to fetch server details when tools are running in langgraph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2286000" cy="365760"/>
          </a:xfrm>
          <a:prstGeom prst="round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CORE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D2FF"/>
                </a:solidFill>
                <a:latin typeface="Segoe UI"/>
              </a:defRPr>
            </a:pPr>
            <a:r>
              <a:t>Tools (continued)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00D2FF"/>
                </a:solidFill>
                <a:latin typeface="Segoe UI"/>
              </a:rPr>
              <a:t>5) </a:t>
            </a:r>
            <a:r>
              <a:rPr sz="1700">
                <a:solidFill>
                  <a:srgbClr val="CCCCCC"/>
                </a:solidFill>
                <a:latin typeface="Segoe UI"/>
              </a:rPr>
              <a:t>It can return string, object, command or directly from the tool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0D2FF"/>
                </a:solidFill>
                <a:latin typeface="Segoe UI"/>
              </a:rPr>
              <a:t>6) </a:t>
            </a:r>
            <a:r>
              <a:rPr sz="1700">
                <a:solidFill>
                  <a:srgbClr val="CCCCCC"/>
                </a:solidFill>
                <a:latin typeface="Segoe UI"/>
              </a:rPr>
              <a:t>Error handling can be done using only middleware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0D2FF"/>
                </a:solidFill>
                <a:latin typeface="Segoe UI"/>
              </a:rPr>
              <a:t>7) </a:t>
            </a:r>
            <a:r>
              <a:rPr sz="1700">
                <a:solidFill>
                  <a:srgbClr val="CCCCCC"/>
                </a:solidFill>
                <a:latin typeface="Segoe UI"/>
              </a:rPr>
              <a:t>Tools can be selected dynamically during runtime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0D2FF"/>
                </a:solidFill>
                <a:latin typeface="Segoe UI"/>
              </a:rPr>
              <a:t>8) </a:t>
            </a:r>
            <a:r>
              <a:rPr sz="1700">
                <a:solidFill>
                  <a:srgbClr val="CCCCCC"/>
                </a:solidFill>
                <a:latin typeface="Segoe UI"/>
              </a:rPr>
              <a:t>Headless tools are also possible through API. Langchain has many of its own tools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2286000" cy="365760"/>
          </a:xfrm>
          <a:prstGeom prst="round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CORE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D2FF"/>
                </a:solidFill>
                <a:latin typeface="Segoe UI"/>
              </a:defRPr>
            </a:pPr>
            <a:r>
              <a:t>Short Term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00D2FF"/>
                </a:solidFill>
                <a:latin typeface="Segoe UI"/>
              </a:rPr>
              <a:t>1) </a:t>
            </a:r>
            <a:r>
              <a:rPr sz="1800">
                <a:solidFill>
                  <a:srgbClr val="CCCCCC"/>
                </a:solidFill>
                <a:latin typeface="Segoe UI"/>
              </a:rPr>
              <a:t>It can be achieved through "checkpointer" which is available along with database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00D2FF"/>
                </a:solidFill>
                <a:latin typeface="Segoe UI"/>
              </a:rPr>
              <a:t>2) </a:t>
            </a:r>
            <a:r>
              <a:rPr sz="1800">
                <a:solidFill>
                  <a:srgbClr val="CCCCCC"/>
                </a:solidFill>
                <a:latin typeface="Segoe UI"/>
              </a:rPr>
              <a:t>Can be customized and has common patterns such as trim messages, Delete messages, Summarize or customize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00D2FF"/>
                </a:solidFill>
                <a:latin typeface="Segoe UI"/>
              </a:rPr>
              <a:t>3) </a:t>
            </a:r>
            <a:r>
              <a:rPr sz="1800">
                <a:solidFill>
                  <a:srgbClr val="CCCCCC"/>
                </a:solidFill>
                <a:latin typeface="Segoe UI"/>
              </a:rPr>
              <a:t>It can be accessed or updated from tools and used to create prompts based on the history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2286000" cy="365760"/>
          </a:xfrm>
          <a:prstGeom prst="round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CORE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D2FF"/>
                </a:solidFill>
                <a:latin typeface="Segoe UI"/>
              </a:defRPr>
            </a:pPr>
            <a:r>
              <a:t>Event Streaming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00D2FF"/>
                </a:solidFill>
                <a:latin typeface="Segoe UI"/>
              </a:rPr>
              <a:t>1) </a:t>
            </a:r>
            <a:r>
              <a:rPr sz="1800">
                <a:solidFill>
                  <a:srgbClr val="CCCCCC"/>
                </a:solidFill>
                <a:latin typeface="Segoe UI"/>
              </a:rPr>
              <a:t>Run time events can be streamed e.g agent messages, subagents, state and final o/p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2286000" cy="365760"/>
          </a:xfrm>
          <a:prstGeom prst="round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CORE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D2FF"/>
                </a:solidFill>
                <a:latin typeface="Segoe UI"/>
              </a:defRPr>
            </a:pPr>
            <a:r>
              <a:t>Structured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00D2FF"/>
                </a:solidFill>
                <a:latin typeface="Segoe UI"/>
              </a:rPr>
              <a:t>1) </a:t>
            </a:r>
            <a:r>
              <a:rPr sz="1800">
                <a:solidFill>
                  <a:srgbClr val="CCCCCC"/>
                </a:solidFill>
                <a:latin typeface="Segoe UI"/>
              </a:rPr>
              <a:t>It will help to get the o/p in the required format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00D2FF"/>
                </a:solidFill>
                <a:latin typeface="Segoe UI"/>
              </a:rPr>
              <a:t>2) </a:t>
            </a:r>
            <a:r>
              <a:rPr sz="1800">
                <a:solidFill>
                  <a:srgbClr val="CCCCCC"/>
                </a:solidFill>
                <a:latin typeface="Segoe UI"/>
              </a:rPr>
              <a:t>Some providers support structured output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00D2FF"/>
                </a:solidFill>
                <a:latin typeface="Segoe UI"/>
              </a:rPr>
              <a:t>3) </a:t>
            </a:r>
            <a:r>
              <a:rPr sz="1800">
                <a:solidFill>
                  <a:srgbClr val="CCCCCC"/>
                </a:solidFill>
                <a:latin typeface="Segoe UI"/>
              </a:rPr>
              <a:t>Tools can be used and Errors can be handled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D2FF"/>
                </a:solidFill>
                <a:latin typeface="Segoe UI"/>
              </a:defRPr>
            </a:pPr>
            <a:r>
              <a:t>Community Packages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CCCCCC"/>
                </a:solidFill>
                <a:latin typeface="Segoe UI"/>
              </a:defRPr>
            </a:pPr>
            <a:r>
              <a:t>Langchain has number of integrations for various options such as embedding models, chat, vector store, documents, retrievers, Backends etc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CCCCCC"/>
                </a:solidFill>
                <a:latin typeface="Segoe UI"/>
              </a:defRPr>
            </a:pPr>
            <a:r>
              <a:t>Most of the providers expose their models through an API which can be accessed through dependencies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2FF"/>
                </a:solidFill>
                <a:latin typeface="Segoe UI"/>
              </a:defRPr>
            </a:pPr>
            <a:r>
              <a:t>Example: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846320"/>
            <a:ext cx="5486400" cy="6400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>
                <a:solidFill>
                  <a:srgbClr val="00FF88"/>
                </a:solidFill>
                <a:latin typeface="Consolas"/>
              </a:defRPr>
            </a:pPr>
            <a:r>
              <a:t>pip install -U langchain-openai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784</Words>
  <Application>Microsoft Office PowerPoint</Application>
  <PresentationFormat>Widescreen</PresentationFormat>
  <Paragraphs>76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Ramasamy, Karthika R</cp:lastModifiedBy>
  <cp:revision>1</cp:revision>
  <dcterms:created xsi:type="dcterms:W3CDTF">2013-01-27T09:14:16Z</dcterms:created>
  <dcterms:modified xsi:type="dcterms:W3CDTF">2026-06-19T06:24:42Z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e6ee112-9e5c-4f16-b63d-fcad06e1707e_Enabled">
    <vt:lpwstr>true</vt:lpwstr>
  </property>
  <property fmtid="{D5CDD505-2E9C-101B-9397-08002B2CF9AE}" pid="3" name="MSIP_Label_fe6ee112-9e5c-4f16-b63d-fcad06e1707e_SetDate">
    <vt:lpwstr>2026-06-19T06:24:42Z</vt:lpwstr>
  </property>
  <property fmtid="{D5CDD505-2E9C-101B-9397-08002B2CF9AE}" pid="4" name="MSIP_Label_fe6ee112-9e5c-4f16-b63d-fcad06e1707e_Method">
    <vt:lpwstr>Standard</vt:lpwstr>
  </property>
  <property fmtid="{D5CDD505-2E9C-101B-9397-08002B2CF9AE}" pid="5" name="MSIP_Label_fe6ee112-9e5c-4f16-b63d-fcad06e1707e_Name">
    <vt:lpwstr>Internal Use</vt:lpwstr>
  </property>
  <property fmtid="{D5CDD505-2E9C-101B-9397-08002B2CF9AE}" pid="6" name="MSIP_Label_fe6ee112-9e5c-4f16-b63d-fcad06e1707e_SiteId">
    <vt:lpwstr>8ac76c91-e7f1-41ff-a89c-3553b2da2c17</vt:lpwstr>
  </property>
  <property fmtid="{D5CDD505-2E9C-101B-9397-08002B2CF9AE}" pid="7" name="MSIP_Label_fe6ee112-9e5c-4f16-b63d-fcad06e1707e_ActionId">
    <vt:lpwstr>0296bace-6ec9-4e52-835c-738b305ca366</vt:lpwstr>
  </property>
  <property fmtid="{D5CDD505-2E9C-101B-9397-08002B2CF9AE}" pid="8" name="MSIP_Label_fe6ee112-9e5c-4f16-b63d-fcad06e1707e_ContentBits">
    <vt:lpwstr>0</vt:lpwstr>
  </property>
  <property fmtid="{D5CDD505-2E9C-101B-9397-08002B2CF9AE}" pid="9" name="MSIP_Label_fe6ee112-9e5c-4f16-b63d-fcad06e1707e_Tag">
    <vt:lpwstr>10, 3, 0, 1</vt:lpwstr>
  </property>
</Properties>
</file>